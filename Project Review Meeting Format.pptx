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86" r:id="rId2"/>
    <p:sldId id="260" r:id="rId3"/>
    <p:sldId id="278" r:id="rId4"/>
    <p:sldId id="257" r:id="rId5"/>
    <p:sldId id="321" r:id="rId6"/>
    <p:sldId id="326" r:id="rId7"/>
    <p:sldId id="322" r:id="rId8"/>
    <p:sldId id="323" r:id="rId9"/>
    <p:sldId id="329" r:id="rId10"/>
    <p:sldId id="331" r:id="rId11"/>
    <p:sldId id="324" r:id="rId12"/>
    <p:sldId id="332" r:id="rId13"/>
    <p:sldId id="277" r:id="rId14"/>
    <p:sldId id="320" r:id="rId15"/>
    <p:sldId id="327" r:id="rId1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E953C3-72E1-4A7E-8D63-CA72FCB4B9EE}" v="10" dt="2026-06-09T06:05:33.3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97" d="100"/>
          <a:sy n="97" d="100"/>
        </p:scale>
        <p:origin x="1042"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Chandra" userId="56c23fed00759a0f" providerId="LiveId" clId="{B3C4C850-7254-4F91-A82D-B9BCD16A173E}"/>
    <pc:docChg chg="undo custSel addSld delSld modSld sldOrd">
      <pc:chgData name="Dhanush Chandra" userId="56c23fed00759a0f" providerId="LiveId" clId="{B3C4C850-7254-4F91-A82D-B9BCD16A173E}" dt="2026-06-16T03:25:07.233" v="415"/>
      <pc:docMkLst>
        <pc:docMk/>
      </pc:docMkLst>
      <pc:sldChg chg="modSp mod">
        <pc:chgData name="Dhanush Chandra" userId="56c23fed00759a0f" providerId="LiveId" clId="{B3C4C850-7254-4F91-A82D-B9BCD16A173E}" dt="2026-06-09T06:06:06.423" v="180" actId="14100"/>
        <pc:sldMkLst>
          <pc:docMk/>
          <pc:sldMk cId="0" sldId="257"/>
        </pc:sldMkLst>
        <pc:spChg chg="mod">
          <ac:chgData name="Dhanush Chandra" userId="56c23fed00759a0f" providerId="LiveId" clId="{B3C4C850-7254-4F91-A82D-B9BCD16A173E}" dt="2026-06-09T06:06:06.423" v="180" actId="14100"/>
          <ac:spMkLst>
            <pc:docMk/>
            <pc:sldMk cId="0" sldId="257"/>
            <ac:spMk id="5" creationId="{00000000-0000-0000-0000-000000000000}"/>
          </ac:spMkLst>
        </pc:spChg>
      </pc:sldChg>
      <pc:sldChg chg="modSp mod">
        <pc:chgData name="Dhanush Chandra" userId="56c23fed00759a0f" providerId="LiveId" clId="{B3C4C850-7254-4F91-A82D-B9BCD16A173E}" dt="2026-06-09T06:04:09.540" v="166" actId="27636"/>
        <pc:sldMkLst>
          <pc:docMk/>
          <pc:sldMk cId="0" sldId="278"/>
        </pc:sldMkLst>
        <pc:spChg chg="mod">
          <ac:chgData name="Dhanush Chandra" userId="56c23fed00759a0f" providerId="LiveId" clId="{B3C4C850-7254-4F91-A82D-B9BCD16A173E}" dt="2026-06-09T06:04:09.540" v="166" actId="27636"/>
          <ac:spMkLst>
            <pc:docMk/>
            <pc:sldMk cId="0" sldId="278"/>
            <ac:spMk id="5" creationId="{00000000-0000-0000-0000-000000000000}"/>
          </ac:spMkLst>
        </pc:spChg>
      </pc:sldChg>
      <pc:sldChg chg="modSp mod">
        <pc:chgData name="Dhanush Chandra" userId="56c23fed00759a0f" providerId="LiveId" clId="{B3C4C850-7254-4F91-A82D-B9BCD16A173E}" dt="2026-06-16T03:17:43.361" v="413" actId="1076"/>
        <pc:sldMkLst>
          <pc:docMk/>
          <pc:sldMk cId="0" sldId="286"/>
        </pc:sldMkLst>
        <pc:spChg chg="mod">
          <ac:chgData name="Dhanush Chandra" userId="56c23fed00759a0f" providerId="LiveId" clId="{B3C4C850-7254-4F91-A82D-B9BCD16A173E}" dt="2026-06-16T03:13:24.351" v="411" actId="20577"/>
          <ac:spMkLst>
            <pc:docMk/>
            <pc:sldMk cId="0" sldId="286"/>
            <ac:spMk id="2" creationId="{00000000-0000-0000-0000-000000000000}"/>
          </ac:spMkLst>
        </pc:spChg>
        <pc:spChg chg="mod">
          <ac:chgData name="Dhanush Chandra" userId="56c23fed00759a0f" providerId="LiveId" clId="{B3C4C850-7254-4F91-A82D-B9BCD16A173E}" dt="2026-06-11T08:49:57.704" v="369" actId="20577"/>
          <ac:spMkLst>
            <pc:docMk/>
            <pc:sldMk cId="0" sldId="286"/>
            <ac:spMk id="3" creationId="{00000000-0000-0000-0000-000000000000}"/>
          </ac:spMkLst>
        </pc:spChg>
        <pc:spChg chg="mod">
          <ac:chgData name="Dhanush Chandra" userId="56c23fed00759a0f" providerId="LiveId" clId="{B3C4C850-7254-4F91-A82D-B9BCD16A173E}" dt="2026-06-16T03:17:43.361" v="413" actId="1076"/>
          <ac:spMkLst>
            <pc:docMk/>
            <pc:sldMk cId="0" sldId="286"/>
            <ac:spMk id="13" creationId="{00000000-0000-0000-0000-000000000000}"/>
          </ac:spMkLst>
        </pc:spChg>
      </pc:sldChg>
      <pc:sldChg chg="ord">
        <pc:chgData name="Dhanush Chandra" userId="56c23fed00759a0f" providerId="LiveId" clId="{B3C4C850-7254-4F91-A82D-B9BCD16A173E}" dt="2026-06-16T03:25:07.233" v="415"/>
        <pc:sldMkLst>
          <pc:docMk/>
          <pc:sldMk cId="0" sldId="321"/>
        </pc:sldMkLst>
      </pc:sldChg>
      <pc:sldChg chg="addSp delSp modSp mod">
        <pc:chgData name="Dhanush Chandra" userId="56c23fed00759a0f" providerId="LiveId" clId="{B3C4C850-7254-4F91-A82D-B9BCD16A173E}" dt="2026-06-09T05:58:41.893" v="147" actId="20577"/>
        <pc:sldMkLst>
          <pc:docMk/>
          <pc:sldMk cId="0" sldId="323"/>
        </pc:sldMkLst>
        <pc:spChg chg="mod">
          <ac:chgData name="Dhanush Chandra" userId="56c23fed00759a0f" providerId="LiveId" clId="{B3C4C850-7254-4F91-A82D-B9BCD16A173E}" dt="2026-06-09T05:58:41.893" v="147" actId="20577"/>
          <ac:spMkLst>
            <pc:docMk/>
            <pc:sldMk cId="0" sldId="323"/>
            <ac:spMk id="2" creationId="{00000000-0000-0000-0000-000000000000}"/>
          </ac:spMkLst>
        </pc:spChg>
        <pc:picChg chg="add mod ord">
          <ac:chgData name="Dhanush Chandra" userId="56c23fed00759a0f" providerId="LiveId" clId="{B3C4C850-7254-4F91-A82D-B9BCD16A173E}" dt="2026-06-09T05:58:37.287" v="143" actId="1076"/>
          <ac:picMkLst>
            <pc:docMk/>
            <pc:sldMk cId="0" sldId="323"/>
            <ac:picMk id="6" creationId="{42A938C6-D311-EF8B-B432-C585A9AB48BD}"/>
          </ac:picMkLst>
        </pc:picChg>
        <pc:picChg chg="add mod">
          <ac:chgData name="Dhanush Chandra" userId="56c23fed00759a0f" providerId="LiveId" clId="{B3C4C850-7254-4F91-A82D-B9BCD16A173E}" dt="2026-06-09T05:58:34.757" v="142" actId="14100"/>
          <ac:picMkLst>
            <pc:docMk/>
            <pc:sldMk cId="0" sldId="323"/>
            <ac:picMk id="9" creationId="{F38E0D56-EC82-88DE-0157-11CB004105A5}"/>
          </ac:picMkLst>
        </pc:picChg>
      </pc:sldChg>
      <pc:sldChg chg="addSp delSp modSp mod">
        <pc:chgData name="Dhanush Chandra" userId="56c23fed00759a0f" providerId="LiveId" clId="{B3C4C850-7254-4F91-A82D-B9BCD16A173E}" dt="2026-06-16T03:10:07.836" v="389" actId="14100"/>
        <pc:sldMkLst>
          <pc:docMk/>
          <pc:sldMk cId="0" sldId="324"/>
        </pc:sldMkLst>
        <pc:spChg chg="mod">
          <ac:chgData name="Dhanush Chandra" userId="56c23fed00759a0f" providerId="LiveId" clId="{B3C4C850-7254-4F91-A82D-B9BCD16A173E}" dt="2026-06-16T03:09:47.864" v="382" actId="1076"/>
          <ac:spMkLst>
            <pc:docMk/>
            <pc:sldMk cId="0" sldId="324"/>
            <ac:spMk id="2" creationId="{00000000-0000-0000-0000-000000000000}"/>
          </ac:spMkLst>
        </pc:spChg>
        <pc:spChg chg="del mod">
          <ac:chgData name="Dhanush Chandra" userId="56c23fed00759a0f" providerId="LiveId" clId="{B3C4C850-7254-4F91-A82D-B9BCD16A173E}" dt="2026-06-16T03:08:52.352" v="372" actId="22"/>
          <ac:spMkLst>
            <pc:docMk/>
            <pc:sldMk cId="0" sldId="324"/>
            <ac:spMk id="4" creationId="{00000000-0000-0000-0000-000000000000}"/>
          </ac:spMkLst>
        </pc:spChg>
        <pc:picChg chg="add mod ord">
          <ac:chgData name="Dhanush Chandra" userId="56c23fed00759a0f" providerId="LiveId" clId="{B3C4C850-7254-4F91-A82D-B9BCD16A173E}" dt="2026-06-16T03:09:41.137" v="381" actId="1076"/>
          <ac:picMkLst>
            <pc:docMk/>
            <pc:sldMk cId="0" sldId="324"/>
            <ac:picMk id="6" creationId="{2471EDFB-A9B4-6216-953A-6A88F505FC69}"/>
          </ac:picMkLst>
        </pc:picChg>
        <pc:picChg chg="add mod">
          <ac:chgData name="Dhanush Chandra" userId="56c23fed00759a0f" providerId="LiveId" clId="{B3C4C850-7254-4F91-A82D-B9BCD16A173E}" dt="2026-06-16T03:10:07.836" v="389" actId="14100"/>
          <ac:picMkLst>
            <pc:docMk/>
            <pc:sldMk cId="0" sldId="324"/>
            <ac:picMk id="8" creationId="{981FF143-1321-C585-DB76-98AFF0A0FA88}"/>
          </ac:picMkLst>
        </pc:picChg>
      </pc:sldChg>
      <pc:sldChg chg="addSp delSp modSp new mod">
        <pc:chgData name="Dhanush Chandra" userId="56c23fed00759a0f" providerId="LiveId" clId="{B3C4C850-7254-4F91-A82D-B9BCD16A173E}" dt="2026-06-09T05:57:55.404" v="132" actId="1076"/>
        <pc:sldMkLst>
          <pc:docMk/>
          <pc:sldMk cId="1114412503" sldId="329"/>
        </pc:sldMkLst>
        <pc:spChg chg="mod">
          <ac:chgData name="Dhanush Chandra" userId="56c23fed00759a0f" providerId="LiveId" clId="{B3C4C850-7254-4F91-A82D-B9BCD16A173E}" dt="2026-06-09T05:57:55.404" v="132" actId="1076"/>
          <ac:spMkLst>
            <pc:docMk/>
            <pc:sldMk cId="1114412503" sldId="329"/>
            <ac:spMk id="2" creationId="{21EE3945-73BB-8AC7-E421-F850B015AACD}"/>
          </ac:spMkLst>
        </pc:spChg>
        <pc:picChg chg="add mod ord">
          <ac:chgData name="Dhanush Chandra" userId="56c23fed00759a0f" providerId="LiveId" clId="{B3C4C850-7254-4F91-A82D-B9BCD16A173E}" dt="2026-06-09T05:57:27.998" v="125" actId="1076"/>
          <ac:picMkLst>
            <pc:docMk/>
            <pc:sldMk cId="1114412503" sldId="329"/>
            <ac:picMk id="5" creationId="{33FB27D5-F7FF-FC22-F5A4-7D91A6C0E604}"/>
          </ac:picMkLst>
        </pc:picChg>
        <pc:picChg chg="add mod">
          <ac:chgData name="Dhanush Chandra" userId="56c23fed00759a0f" providerId="LiveId" clId="{B3C4C850-7254-4F91-A82D-B9BCD16A173E}" dt="2026-06-09T05:57:21.149" v="124" actId="14100"/>
          <ac:picMkLst>
            <pc:docMk/>
            <pc:sldMk cId="1114412503" sldId="329"/>
            <ac:picMk id="6" creationId="{320C3F6E-D104-8C6F-DC6D-67AD59958BB1}"/>
          </ac:picMkLst>
        </pc:picChg>
      </pc:sldChg>
      <pc:sldChg chg="addSp delSp modSp new mod">
        <pc:chgData name="Dhanush Chandra" userId="56c23fed00759a0f" providerId="LiveId" clId="{B3C4C850-7254-4F91-A82D-B9BCD16A173E}" dt="2026-06-09T05:57:46.893" v="131" actId="1076"/>
        <pc:sldMkLst>
          <pc:docMk/>
          <pc:sldMk cId="2227976222" sldId="331"/>
        </pc:sldMkLst>
        <pc:spChg chg="mod">
          <ac:chgData name="Dhanush Chandra" userId="56c23fed00759a0f" providerId="LiveId" clId="{B3C4C850-7254-4F91-A82D-B9BCD16A173E}" dt="2026-06-09T05:56:48.685" v="116" actId="20577"/>
          <ac:spMkLst>
            <pc:docMk/>
            <pc:sldMk cId="2227976222" sldId="331"/>
            <ac:spMk id="2" creationId="{EB52AC9B-E886-2C39-9D3C-1BDAF8A64474}"/>
          </ac:spMkLst>
        </pc:spChg>
        <pc:picChg chg="add mod ord">
          <ac:chgData name="Dhanush Chandra" userId="56c23fed00759a0f" providerId="LiveId" clId="{B3C4C850-7254-4F91-A82D-B9BCD16A173E}" dt="2026-06-09T05:57:46.893" v="131" actId="1076"/>
          <ac:picMkLst>
            <pc:docMk/>
            <pc:sldMk cId="2227976222" sldId="331"/>
            <ac:picMk id="7" creationId="{49B39EA8-5A30-B6DF-5E06-4DB432F63005}"/>
          </ac:picMkLst>
        </pc:picChg>
        <pc:picChg chg="add mod">
          <ac:chgData name="Dhanush Chandra" userId="56c23fed00759a0f" providerId="LiveId" clId="{B3C4C850-7254-4F91-A82D-B9BCD16A173E}" dt="2026-06-09T05:56:37.185" v="110" actId="14100"/>
          <ac:picMkLst>
            <pc:docMk/>
            <pc:sldMk cId="2227976222" sldId="331"/>
            <ac:picMk id="8" creationId="{F173B9EB-5005-408A-FA7E-81F10D8AF438}"/>
          </ac:picMkLst>
        </pc:picChg>
      </pc:sldChg>
      <pc:sldChg chg="new del">
        <pc:chgData name="Dhanush Chandra" userId="56c23fed00759a0f" providerId="LiveId" clId="{B3C4C850-7254-4F91-A82D-B9BCD16A173E}" dt="2026-06-16T03:10:31.223" v="391" actId="2696"/>
        <pc:sldMkLst>
          <pc:docMk/>
          <pc:sldMk cId="2059255494" sldId="332"/>
        </pc:sldMkLst>
      </pc:sldChg>
      <pc:sldChg chg="addSp delSp modSp add mod">
        <pc:chgData name="Dhanush Chandra" userId="56c23fed00759a0f" providerId="LiveId" clId="{B3C4C850-7254-4F91-A82D-B9BCD16A173E}" dt="2026-06-16T03:12:04.723" v="409" actId="14100"/>
        <pc:sldMkLst>
          <pc:docMk/>
          <pc:sldMk cId="4018426968" sldId="332"/>
        </pc:sldMkLst>
        <pc:spChg chg="add del mod">
          <ac:chgData name="Dhanush Chandra" userId="56c23fed00759a0f" providerId="LiveId" clId="{B3C4C850-7254-4F91-A82D-B9BCD16A173E}" dt="2026-06-16T03:11:26.567" v="400" actId="21"/>
          <ac:spMkLst>
            <pc:docMk/>
            <pc:sldMk cId="4018426968" sldId="332"/>
            <ac:spMk id="4" creationId="{E64CD840-2DD4-F3F9-64EB-6DA7463B992F}"/>
          </ac:spMkLst>
        </pc:spChg>
        <pc:picChg chg="del">
          <ac:chgData name="Dhanush Chandra" userId="56c23fed00759a0f" providerId="LiveId" clId="{B3C4C850-7254-4F91-A82D-B9BCD16A173E}" dt="2026-06-16T03:10:38.473" v="393" actId="21"/>
          <ac:picMkLst>
            <pc:docMk/>
            <pc:sldMk cId="4018426968" sldId="332"/>
            <ac:picMk id="6" creationId="{B88EE2B7-40E5-2114-7C34-3B0D5E06FDEA}"/>
          </ac:picMkLst>
        </pc:picChg>
        <pc:picChg chg="del">
          <ac:chgData name="Dhanush Chandra" userId="56c23fed00759a0f" providerId="LiveId" clId="{B3C4C850-7254-4F91-A82D-B9BCD16A173E}" dt="2026-06-16T03:10:48.389" v="394" actId="21"/>
          <ac:picMkLst>
            <pc:docMk/>
            <pc:sldMk cId="4018426968" sldId="332"/>
            <ac:picMk id="8" creationId="{3888F029-BB7B-932C-A0AE-49457859AAA2}"/>
          </ac:picMkLst>
        </pc:picChg>
        <pc:picChg chg="add mod">
          <ac:chgData name="Dhanush Chandra" userId="56c23fed00759a0f" providerId="LiveId" clId="{B3C4C850-7254-4F91-A82D-B9BCD16A173E}" dt="2026-06-16T03:11:57.138" v="407" actId="14100"/>
          <ac:picMkLst>
            <pc:docMk/>
            <pc:sldMk cId="4018426968" sldId="332"/>
            <ac:picMk id="9" creationId="{280B1294-9EA9-F1B2-1B49-62F8F8B4E632}"/>
          </ac:picMkLst>
        </pc:picChg>
        <pc:picChg chg="add mod">
          <ac:chgData name="Dhanush Chandra" userId="56c23fed00759a0f" providerId="LiveId" clId="{B3C4C850-7254-4F91-A82D-B9BCD16A173E}" dt="2026-06-16T03:12:04.723" v="409" actId="14100"/>
          <ac:picMkLst>
            <pc:docMk/>
            <pc:sldMk cId="4018426968" sldId="332"/>
            <ac:picMk id="11" creationId="{DAC8509D-386E-6064-F6A4-4F50EE7184E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t>6/16/2026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6/16/2026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Shopping Cart &amp; Checkout Flow</a:t>
            </a: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2600" b="1" dirty="0">
                <a:solidFill>
                  <a:srgbClr val="00B0F0"/>
                </a:solidFill>
                <a:latin typeface="Times New Roman" panose="02020603050405020304" pitchFamily="18" charset="0"/>
                <a:cs typeface="Times New Roman" panose="02020603050405020304" pitchFamily="18" charset="0"/>
              </a:rPr>
              <a:t>By</a:t>
            </a:r>
          </a:p>
          <a:p>
            <a:pPr marR="0"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    Name:   Dhanush      roll: 2520030014</a:t>
            </a:r>
          </a:p>
          <a:p>
            <a:pPr marR="0"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    Name:   Pranav          roll:2520030555</a:t>
            </a:r>
          </a:p>
          <a:p>
            <a:pPr marR="0"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     Name: Siddarth          roll:2520090187</a:t>
            </a:r>
          </a:p>
          <a:p>
            <a:pPr marR="0" eaLnBrk="1" hangingPunct="1">
              <a:lnSpc>
                <a:spcPct val="80000"/>
              </a:lnSpc>
              <a:defRPr/>
            </a:pPr>
            <a:r>
              <a:rPr lang="en-US" sz="3600" b="1" dirty="0">
                <a:solidFill>
                  <a:srgbClr val="00B0F0"/>
                </a:solidFill>
                <a:latin typeface="Times New Roman" panose="02020603050405020304" pitchFamily="18" charset="0"/>
                <a:cs typeface="Times New Roman" panose="02020603050405020304" pitchFamily="18" charset="0"/>
              </a:rPr>
              <a:t>Team Number: 26</a:t>
            </a:r>
          </a:p>
          <a:p>
            <a:pPr marR="0" algn="ctr" eaLnBrk="1" hangingPunct="1">
              <a:lnSpc>
                <a:spcPct val="80000"/>
              </a:lnSpc>
              <a:defRPr/>
            </a:pP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Ms. </a:t>
            </a:r>
            <a:r>
              <a:rPr lang="en-US" sz="3400" b="1" dirty="0" err="1">
                <a:solidFill>
                  <a:srgbClr val="00B0F0"/>
                </a:solidFill>
                <a:latin typeface="Times New Roman" panose="02020603050405020304" pitchFamily="18" charset="0"/>
                <a:cs typeface="Times New Roman" panose="02020603050405020304" pitchFamily="18" charset="0"/>
              </a:rPr>
              <a:t>D.Pavithra</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Assistant Professor </a:t>
            </a:r>
          </a:p>
          <a:p>
            <a:pPr marR="0" algn="ctr" eaLnBrk="1" hangingPunct="1">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p>
          <a:p>
            <a:pPr marR="0" eaLnBrk="1" hangingPunct="1">
              <a:lnSpc>
                <a:spcPct val="80000"/>
              </a:lnSpc>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p>
        </p:txBody>
      </p:sp>
      <p:sp>
        <p:nvSpPr>
          <p:cNvPr id="13" name="TextBox 12"/>
          <p:cNvSpPr txBox="1"/>
          <p:nvPr/>
        </p:nvSpPr>
        <p:spPr>
          <a:xfrm>
            <a:off x="-228600" y="50292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Project Flow Diagram</a:t>
            </a:r>
          </a:p>
          <a:p>
            <a:r>
              <a:rPr lang="en-US" dirty="0">
                <a:latin typeface="Times New Roman" panose="02020603050405020304" pitchFamily="18" charset="0"/>
                <a:cs typeface="Times New Roman" panose="02020603050405020304" pitchFamily="18" charset="0"/>
              </a:rPr>
              <a:t>Objectives with Justification</a:t>
            </a:r>
          </a:p>
          <a:p>
            <a:r>
              <a:rPr lang="en-US" dirty="0">
                <a:latin typeface="Times New Roman" panose="02020603050405020304" pitchFamily="18" charset="0"/>
                <a:cs typeface="Times New Roman" panose="02020603050405020304" pitchFamily="18" charset="0"/>
              </a:rPr>
              <a:t>Modules[Frontend web pages]</a:t>
            </a:r>
          </a:p>
          <a:p>
            <a:r>
              <a:rPr lang="en-US" dirty="0">
                <a:latin typeface="Times New Roman" panose="02020603050405020304" pitchFamily="18" charset="0"/>
                <a:cs typeface="Times New Roman" panose="02020603050405020304" pitchFamily="18" charset="0"/>
              </a:rPr>
              <a:t>Expected Outcomes of the Proposed Work</a:t>
            </a:r>
          </a:p>
          <a:p>
            <a:r>
              <a:rPr lang="en-US" dirty="0">
                <a:latin typeface="Times New Roman" panose="02020603050405020304" pitchFamily="18" charset="0"/>
                <a:cs typeface="Times New Roman" panose="02020603050405020304" pitchFamily="18" charset="0"/>
              </a:rPr>
              <a:t>Conclusion </a:t>
            </a:r>
          </a:p>
          <a:p>
            <a:r>
              <a:rPr lang="en-US" dirty="0">
                <a:latin typeface="Times New Roman" panose="02020603050405020304" pitchFamily="18" charset="0"/>
                <a:cs typeface="Times New Roman" panose="02020603050405020304" pitchFamily="18" charset="0"/>
              </a:rPr>
              <a:t>References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Abstract</a:t>
            </a:r>
            <a:endParaRPr lang="en-US" sz="2800" dirty="0"/>
          </a:p>
        </p:txBody>
      </p:sp>
      <p:sp>
        <p:nvSpPr>
          <p:cNvPr id="5" name="Content Placeholder 4"/>
          <p:cNvSpPr>
            <a:spLocks noGrp="1"/>
          </p:cNvSpPr>
          <p:nvPr>
            <p:ph idx="1"/>
          </p:nvPr>
        </p:nvSpPr>
        <p:spPr>
          <a:xfrm>
            <a:off x="152400" y="1143000"/>
            <a:ext cx="8839200" cy="5440362"/>
          </a:xfrm>
        </p:spPr>
        <p:txBody>
          <a:bodyPr>
            <a:normAutofit fontScale="70000" lnSpcReduction="20000"/>
          </a:bodyPr>
          <a:lstStyle/>
          <a:p>
            <a:endParaRPr lang="en-IN" sz="2600" dirty="0"/>
          </a:p>
          <a:p>
            <a:r>
              <a:rPr lang="en-IN" sz="2600" dirty="0"/>
              <a:t>This project is a Smart Shopping Cart and Checkout Web Application developed using React, Vite, Tailwind CSS, Node.js, and Express. The main aim of the project is to provide users with a smooth online shopping experience by integrating key e-commerce features such as cart management, </a:t>
            </a:r>
            <a:r>
              <a:rPr lang="en-IN" sz="2600" dirty="0" err="1"/>
              <a:t>wishlist</a:t>
            </a:r>
            <a:r>
              <a:rPr lang="en-IN" sz="2600" dirty="0"/>
              <a:t> management, product comparison, checkout flow, authentication, and order tracking. The cart module allows users to add products, update quantities, remove items, save products for later, restore removed items, and view the total cart value. It also includes smart features such as cart expiry tracking, price lock, cart health score, budget limit, and cart activity timeline, helping users manage their shopping decisions more efficiently.</a:t>
            </a:r>
          </a:p>
          <a:p>
            <a:endParaRPr lang="en-IN" sz="2600" dirty="0"/>
          </a:p>
          <a:p>
            <a:r>
              <a:rPr lang="en-IN" sz="2600" dirty="0"/>
              <a:t>The </a:t>
            </a:r>
            <a:r>
              <a:rPr lang="en-IN" sz="2600" dirty="0" err="1"/>
              <a:t>wishlist</a:t>
            </a:r>
            <a:r>
              <a:rPr lang="en-IN" sz="2600" dirty="0"/>
              <a:t> module enables users to save products for future purchase, while the compare module allows users to compare multiple products based on details such as price, category, rating, stock, and features before making a purchase decision. The application uses React Context API to manage cart, </a:t>
            </a:r>
            <a:r>
              <a:rPr lang="en-IN" sz="2600" dirty="0" err="1"/>
              <a:t>wishlist</a:t>
            </a:r>
            <a:r>
              <a:rPr lang="en-IN" sz="2600" dirty="0"/>
              <a:t>, compare, checkout, authentication, and theme states across the frontend. API communication is handled using </a:t>
            </a:r>
            <a:r>
              <a:rPr lang="en-IN" sz="2600" b="1" dirty="0"/>
              <a:t>Axios</a:t>
            </a:r>
            <a:r>
              <a:rPr lang="en-IN" sz="2600" dirty="0"/>
              <a:t>, while the backend is built with </a:t>
            </a:r>
            <a:r>
              <a:rPr lang="en-IN" sz="2600" b="1" dirty="0"/>
              <a:t>Express.js</a:t>
            </a:r>
            <a:r>
              <a:rPr lang="en-IN" sz="2600" dirty="0"/>
              <a:t> and stores data in JSON files. Overall, this project demonstrates the design and development of a modern e-commerce system with a strong focus on user interaction, state management, reusable components, and efficient shopping workflows</a:t>
            </a:r>
          </a:p>
          <a:p>
            <a:endParaRPr lang="en-US" altLang="en-US" sz="1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Introduction</a:t>
            </a:r>
          </a:p>
        </p:txBody>
      </p:sp>
      <p:sp>
        <p:nvSpPr>
          <p:cNvPr id="5" name="Content Placeholder 4"/>
          <p:cNvSpPr>
            <a:spLocks noGrp="1"/>
          </p:cNvSpPr>
          <p:nvPr>
            <p:ph idx="1"/>
          </p:nvPr>
        </p:nvSpPr>
        <p:spPr>
          <a:xfrm>
            <a:off x="236220" y="1417638"/>
            <a:ext cx="8602980" cy="4449763"/>
          </a:xfrm>
        </p:spPr>
        <p:txBody>
          <a:bodyPr>
            <a:normAutofit fontScale="62500" lnSpcReduction="20000"/>
          </a:bodyPr>
          <a:lstStyle/>
          <a:p>
            <a:r>
              <a:rPr lang="en-IN" dirty="0"/>
              <a:t>Online shopping applications have become an important part of modern digital commerce. Users expect a simple, fast, and reliable platform where they can browse products, save items, compare products, manage their cart, and complete purchases easily. This project, Smart Shopping Cart and Checkout Web Application, is designed to provide these essential e-commerce features in a user-friendly way.</a:t>
            </a:r>
          </a:p>
          <a:p>
            <a:pPr marL="0" indent="0">
              <a:buNone/>
            </a:pPr>
            <a:endParaRPr lang="en-IN" dirty="0"/>
          </a:p>
          <a:p>
            <a:r>
              <a:rPr lang="en-IN" dirty="0"/>
              <a:t>The application is developed using React, Vite, Tailwind CSS, Node.js, and Express. It includes major modules such as cart management, </a:t>
            </a:r>
            <a:r>
              <a:rPr lang="en-IN" dirty="0" err="1"/>
              <a:t>wishlist</a:t>
            </a:r>
            <a:r>
              <a:rPr lang="en-IN" dirty="0"/>
              <a:t>, product comparison, checkout, authentication, and order tracking. The cart helps users manage selected products, the </a:t>
            </a:r>
            <a:r>
              <a:rPr lang="en-IN" dirty="0" err="1"/>
              <a:t>wishlist</a:t>
            </a:r>
            <a:r>
              <a:rPr lang="en-IN" dirty="0"/>
              <a:t> allows them to save products for later, and the compare feature supports better purchase decisions. Overall, this project demonstrates how a modern e-commerce application can be built using reusable components, state management, API integration, and a structured frontend-backend architecture.</a:t>
            </a:r>
          </a:p>
          <a:p>
            <a:pPr marL="0" indent="0">
              <a:buNone/>
            </a:pPr>
            <a:r>
              <a:rPr lang="en-US" altLang="en-US" sz="2000" dirty="0">
                <a:latin typeface="Times New Roman" panose="02020603050405020304" pitchFamily="18" charset="0"/>
                <a:cs typeface="Times New Roman" panose="02020603050405020304" pitchFamily="18" charset="0"/>
              </a:rPr>
              <a: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90000" lnSpcReduction="10000"/>
          </a:bodyPr>
          <a:lstStyle/>
          <a:p>
            <a:r>
              <a:rPr lang="en-US" altLang="en-US" sz="2570">
                <a:latin typeface="Times New Roman" panose="02020603050405020304" pitchFamily="18" charset="0"/>
                <a:cs typeface="Times New Roman" panose="02020603050405020304" pitchFamily="18" charset="0"/>
              </a:rPr>
              <a:t>Modern e-commerce platforms often struggle with fragmented user experiences and security vulnerabilities during the checkout process. Client-side state management frequently leads to data loss during multi-step journeys, resulting in high cart abandonment rates. Furthermore, relying on the frontend for price calculations and discount validation exposes applications to malicious manipulation, compromising financial integrity.</a:t>
            </a:r>
          </a:p>
          <a:p>
            <a:endParaRPr lang="en-US" altLang="en-US" sz="2570">
              <a:latin typeface="Times New Roman" panose="02020603050405020304" pitchFamily="18" charset="0"/>
              <a:cs typeface="Times New Roman" panose="02020603050405020304" pitchFamily="18" charset="0"/>
            </a:endParaRPr>
          </a:p>
          <a:p>
            <a:r>
              <a:rPr lang="en-US" altLang="en-US" sz="2570">
                <a:latin typeface="Times New Roman" panose="02020603050405020304" pitchFamily="18" charset="0"/>
                <a:cs typeface="Times New Roman" panose="02020603050405020304" pitchFamily="18" charset="0"/>
              </a:rPr>
              <a:t>There is a critical need for a scalable, highly synchronized checkout architecture that ensures seamless data persistence across complex user flows while centralizing sensitive business logic on the backend to guarantee secure, tamper-proof transactions.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p>
        </p:txBody>
      </p:sp>
      <p:pic>
        <p:nvPicPr>
          <p:cNvPr id="4" name="Content Placeholder 3" descr="gemini pic fedf"/>
          <p:cNvPicPr>
            <a:picLocks noGrp="1" noChangeAspect="1"/>
          </p:cNvPicPr>
          <p:nvPr>
            <p:ph idx="1"/>
          </p:nvPr>
        </p:nvPicPr>
        <p:blipFill>
          <a:blip r:embed="rId2"/>
          <a:stretch>
            <a:fillRect/>
          </a:stretch>
        </p:blipFill>
        <p:spPr>
          <a:xfrm>
            <a:off x="457200" y="1618615"/>
            <a:ext cx="8229600" cy="448881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295400"/>
            <a:ext cx="8452485" cy="5483225"/>
          </a:xfrm>
        </p:spPr>
        <p:txBody>
          <a:bodyPr>
            <a:noAutofit/>
          </a:bodyPr>
          <a:lstStyle/>
          <a:p>
            <a:r>
              <a:rPr lang="en-US" altLang="en-US" sz="1600" b="1" dirty="0">
                <a:latin typeface="Times New Roman" panose="02020603050405020304" pitchFamily="18" charset="0"/>
                <a:cs typeface="Times New Roman" panose="02020603050405020304" pitchFamily="18" charset="0"/>
              </a:rPr>
              <a:t>Secure Pricing &amp; Revenue Protection:</a:t>
            </a:r>
          </a:p>
          <a:p>
            <a:r>
              <a:rPr lang="en-US" altLang="en-US" sz="1600" dirty="0">
                <a:latin typeface="Times New Roman" panose="02020603050405020304" pitchFamily="18" charset="0"/>
                <a:cs typeface="Times New Roman" panose="02020603050405020304" pitchFamily="18" charset="0"/>
              </a:rPr>
              <a:t>All price calculations and coupon validations are handled on the Express.js backend to prevent client-side tampering and guarantee financial integrity.</a:t>
            </a:r>
          </a:p>
          <a:p>
            <a:r>
              <a:rPr lang="en-US" altLang="en-US" sz="1600" b="1" dirty="0">
                <a:latin typeface="Times New Roman" panose="02020603050405020304" pitchFamily="18" charset="0"/>
                <a:cs typeface="Times New Roman" panose="02020603050405020304" pitchFamily="18" charset="0"/>
              </a:rPr>
              <a:t>Persistent User Data:</a:t>
            </a:r>
          </a:p>
          <a:p>
            <a:r>
              <a:rPr lang="en-US" altLang="en-US" sz="1600" dirty="0">
                <a:latin typeface="Times New Roman" panose="02020603050405020304" pitchFamily="18" charset="0"/>
                <a:cs typeface="Times New Roman" panose="02020603050405020304" pitchFamily="18" charset="0"/>
              </a:rPr>
              <a:t>React Context API and LocalStorage save user progress across the 10-module journey, ensuring cart and address details aren't lost during page refreshes, reducing checkout abandonment.</a:t>
            </a:r>
          </a:p>
          <a:p>
            <a:r>
              <a:rPr lang="en-US" altLang="en-US" sz="1600" b="1" dirty="0">
                <a:latin typeface="Times New Roman" panose="02020603050405020304" pitchFamily="18" charset="0"/>
                <a:cs typeface="Times New Roman" panose="02020603050405020304" pitchFamily="18" charset="0"/>
              </a:rPr>
              <a:t>Instant Data Synchronization:</a:t>
            </a:r>
          </a:p>
          <a:p>
            <a:r>
              <a:rPr lang="en-US" altLang="en-US" sz="1600" dirty="0">
                <a:latin typeface="Times New Roman" panose="02020603050405020304" pitchFamily="18" charset="0"/>
                <a:cs typeface="Times New Roman" panose="02020603050405020304" pitchFamily="18" charset="0"/>
              </a:rPr>
              <a:t>Axios manages real-time, asynchronous updates between the frontend and backend, providing users with immediate feedback on dynamic totals without disrupting the flow with full page reloads.</a:t>
            </a:r>
          </a:p>
          <a:p>
            <a:r>
              <a:rPr lang="en-US" altLang="en-US" sz="1600" b="1" dirty="0">
                <a:latin typeface="Times New Roman" panose="02020603050405020304" pitchFamily="18" charset="0"/>
                <a:cs typeface="Times New Roman" panose="02020603050405020304" pitchFamily="18" charset="0"/>
              </a:rPr>
              <a:t>Modular &amp; Scalable Design:</a:t>
            </a:r>
          </a:p>
          <a:p>
            <a:r>
              <a:rPr lang="en-US" altLang="en-US" sz="1600" dirty="0">
                <a:latin typeface="Times New Roman" panose="02020603050405020304" pitchFamily="18" charset="0"/>
                <a:cs typeface="Times New Roman" panose="02020603050405020304" pitchFamily="18" charset="0"/>
              </a:rPr>
              <a:t>The entire checkout system is broken down into independent, reusable React components, simplifying debugging and allowing future features or payment methods to be added effortlessly.</a:t>
            </a:r>
          </a:p>
          <a:p>
            <a:r>
              <a:rPr lang="en-US" altLang="en-US" sz="1600" b="1" dirty="0">
                <a:latin typeface="Times New Roman" panose="02020603050405020304" pitchFamily="18" charset="0"/>
                <a:cs typeface="Times New Roman" panose="02020603050405020304" pitchFamily="18" charset="0"/>
              </a:rPr>
              <a:t>End-to-End Lifecycle Tracking:</a:t>
            </a:r>
          </a:p>
          <a:p>
            <a:r>
              <a:rPr lang="en-US" altLang="en-US" sz="1600" dirty="0">
                <a:latin typeface="Times New Roman" panose="02020603050405020304" pitchFamily="18" charset="0"/>
                <a:cs typeface="Times New Roman" panose="02020603050405020304" pitchFamily="18" charset="0"/>
              </a:rPr>
              <a:t>The application monitors the entire order journey from product selection to final confirmation, making it easy to log system errors and pinpoint exactly where users drop off.</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4"/>
            <a:ext cx="7467600" cy="944562"/>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Modules-1 &amp; 2</a:t>
            </a:r>
          </a:p>
        </p:txBody>
      </p:sp>
      <p:pic>
        <p:nvPicPr>
          <p:cNvPr id="6" name="Content Placeholder 5">
            <a:extLst>
              <a:ext uri="{FF2B5EF4-FFF2-40B4-BE49-F238E27FC236}">
                <a16:creationId xmlns:a16="http://schemas.microsoft.com/office/drawing/2014/main" id="{42A938C6-D311-EF8B-B432-C585A9AB48BD}"/>
              </a:ext>
            </a:extLst>
          </p:cNvPr>
          <p:cNvPicPr>
            <a:picLocks noGrp="1" noChangeAspect="1"/>
          </p:cNvPicPr>
          <p:nvPr>
            <p:ph idx="1"/>
          </p:nvPr>
        </p:nvPicPr>
        <p:blipFill>
          <a:blip r:embed="rId2"/>
          <a:stretch>
            <a:fillRect/>
          </a:stretch>
        </p:blipFill>
        <p:spPr>
          <a:xfrm>
            <a:off x="464820" y="937418"/>
            <a:ext cx="8229600" cy="2773364"/>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9" name="Picture 8">
            <a:extLst>
              <a:ext uri="{FF2B5EF4-FFF2-40B4-BE49-F238E27FC236}">
                <a16:creationId xmlns:a16="http://schemas.microsoft.com/office/drawing/2014/main" id="{F38E0D56-EC82-88DE-0157-11CB004105A5}"/>
              </a:ext>
            </a:extLst>
          </p:cNvPr>
          <p:cNvPicPr>
            <a:picLocks noChangeAspect="1"/>
          </p:cNvPicPr>
          <p:nvPr/>
        </p:nvPicPr>
        <p:blipFill>
          <a:blip r:embed="rId4"/>
          <a:stretch>
            <a:fillRect/>
          </a:stretch>
        </p:blipFill>
        <p:spPr>
          <a:xfrm>
            <a:off x="464820" y="3870325"/>
            <a:ext cx="8298180" cy="2895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3945-73BB-8AC7-E421-F850B015AACD}"/>
              </a:ext>
            </a:extLst>
          </p:cNvPr>
          <p:cNvSpPr>
            <a:spLocks noGrp="1"/>
          </p:cNvSpPr>
          <p:nvPr>
            <p:ph type="title"/>
          </p:nvPr>
        </p:nvSpPr>
        <p:spPr>
          <a:xfrm>
            <a:off x="228600" y="-228600"/>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Modules-3 &amp; 4</a:t>
            </a:r>
            <a:endParaRPr lang="en-IN" sz="2800" dirty="0"/>
          </a:p>
        </p:txBody>
      </p:sp>
      <p:pic>
        <p:nvPicPr>
          <p:cNvPr id="5" name="Content Placeholder 4">
            <a:extLst>
              <a:ext uri="{FF2B5EF4-FFF2-40B4-BE49-F238E27FC236}">
                <a16:creationId xmlns:a16="http://schemas.microsoft.com/office/drawing/2014/main" id="{33FB27D5-F7FF-FC22-F5A4-7D91A6C0E604}"/>
              </a:ext>
            </a:extLst>
          </p:cNvPr>
          <p:cNvPicPr>
            <a:picLocks noGrp="1" noChangeAspect="1"/>
          </p:cNvPicPr>
          <p:nvPr>
            <p:ph idx="1"/>
          </p:nvPr>
        </p:nvPicPr>
        <p:blipFill>
          <a:blip r:embed="rId2"/>
          <a:stretch>
            <a:fillRect/>
          </a:stretch>
        </p:blipFill>
        <p:spPr>
          <a:xfrm>
            <a:off x="457200" y="616053"/>
            <a:ext cx="8229600" cy="3087267"/>
          </a:xfrm>
          <a:prstGeom prst="rect">
            <a:avLst/>
          </a:prstGeom>
        </p:spPr>
      </p:pic>
      <p:pic>
        <p:nvPicPr>
          <p:cNvPr id="6" name="Content Placeholder 4">
            <a:extLst>
              <a:ext uri="{FF2B5EF4-FFF2-40B4-BE49-F238E27FC236}">
                <a16:creationId xmlns:a16="http://schemas.microsoft.com/office/drawing/2014/main" id="{320C3F6E-D104-8C6F-DC6D-67AD59958BB1}"/>
              </a:ext>
            </a:extLst>
          </p:cNvPr>
          <p:cNvPicPr>
            <a:picLocks noChangeAspect="1"/>
          </p:cNvPicPr>
          <p:nvPr/>
        </p:nvPicPr>
        <p:blipFill>
          <a:blip r:embed="rId3"/>
          <a:stretch>
            <a:fillRect/>
          </a:stretch>
        </p:blipFill>
        <p:spPr>
          <a:xfrm>
            <a:off x="457200" y="3733800"/>
            <a:ext cx="8229600" cy="2819400"/>
          </a:xfrm>
          <a:prstGeom prst="rect">
            <a:avLst/>
          </a:prstGeom>
        </p:spPr>
      </p:pic>
    </p:spTree>
    <p:extLst>
      <p:ext uri="{BB962C8B-B14F-4D97-AF65-F5344CB8AC3E}">
        <p14:creationId xmlns:p14="http://schemas.microsoft.com/office/powerpoint/2010/main" val="1114412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2AC9B-E886-2C39-9D3C-1BDAF8A64474}"/>
              </a:ext>
            </a:extLst>
          </p:cNvPr>
          <p:cNvSpPr>
            <a:spLocks noGrp="1"/>
          </p:cNvSpPr>
          <p:nvPr>
            <p:ph type="title"/>
          </p:nvPr>
        </p:nvSpPr>
        <p:spPr>
          <a:xfrm>
            <a:off x="152400" y="-152400"/>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Modules-5 &amp; 6</a:t>
            </a:r>
            <a:endParaRPr lang="en-IN" sz="2800" dirty="0"/>
          </a:p>
        </p:txBody>
      </p:sp>
      <p:pic>
        <p:nvPicPr>
          <p:cNvPr id="7" name="Content Placeholder 6">
            <a:extLst>
              <a:ext uri="{FF2B5EF4-FFF2-40B4-BE49-F238E27FC236}">
                <a16:creationId xmlns:a16="http://schemas.microsoft.com/office/drawing/2014/main" id="{49B39EA8-5A30-B6DF-5E06-4DB432F63005}"/>
              </a:ext>
            </a:extLst>
          </p:cNvPr>
          <p:cNvPicPr>
            <a:picLocks noGrp="1" noChangeAspect="1"/>
          </p:cNvPicPr>
          <p:nvPr>
            <p:ph idx="1"/>
          </p:nvPr>
        </p:nvPicPr>
        <p:blipFill>
          <a:blip r:embed="rId2"/>
          <a:stretch>
            <a:fillRect/>
          </a:stretch>
        </p:blipFill>
        <p:spPr>
          <a:xfrm>
            <a:off x="304800" y="762000"/>
            <a:ext cx="8534400" cy="2827020"/>
          </a:xfrm>
          <a:prstGeom prst="rect">
            <a:avLst/>
          </a:prstGeom>
        </p:spPr>
      </p:pic>
      <p:pic>
        <p:nvPicPr>
          <p:cNvPr id="8" name="Content Placeholder 5">
            <a:extLst>
              <a:ext uri="{FF2B5EF4-FFF2-40B4-BE49-F238E27FC236}">
                <a16:creationId xmlns:a16="http://schemas.microsoft.com/office/drawing/2014/main" id="{F173B9EB-5005-408A-FA7E-81F10D8AF438}"/>
              </a:ext>
            </a:extLst>
          </p:cNvPr>
          <p:cNvPicPr>
            <a:picLocks noChangeAspect="1"/>
          </p:cNvPicPr>
          <p:nvPr/>
        </p:nvPicPr>
        <p:blipFill>
          <a:blip r:embed="rId3"/>
          <a:stretch>
            <a:fillRect/>
          </a:stretch>
        </p:blipFill>
        <p:spPr>
          <a:xfrm>
            <a:off x="281152" y="3733800"/>
            <a:ext cx="8534400" cy="2520953"/>
          </a:xfrm>
          <a:prstGeom prst="rect">
            <a:avLst/>
          </a:prstGeom>
        </p:spPr>
      </p:pic>
    </p:spTree>
    <p:extLst>
      <p:ext uri="{BB962C8B-B14F-4D97-AF65-F5344CB8AC3E}">
        <p14:creationId xmlns:p14="http://schemas.microsoft.com/office/powerpoint/2010/main" val="2227976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2471EDFB-A9B4-6216-953A-6A88F505FC69}"/>
              </a:ext>
            </a:extLst>
          </p:cNvPr>
          <p:cNvPicPr>
            <a:picLocks noGrp="1" noChangeAspect="1"/>
          </p:cNvPicPr>
          <p:nvPr>
            <p:ph idx="1"/>
          </p:nvPr>
        </p:nvPicPr>
        <p:blipFill>
          <a:blip r:embed="rId2"/>
          <a:stretch>
            <a:fillRect/>
          </a:stretch>
        </p:blipFill>
        <p:spPr>
          <a:xfrm>
            <a:off x="609600" y="838200"/>
            <a:ext cx="8077200" cy="30480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8" name="Picture 7">
            <a:extLst>
              <a:ext uri="{FF2B5EF4-FFF2-40B4-BE49-F238E27FC236}">
                <a16:creationId xmlns:a16="http://schemas.microsoft.com/office/drawing/2014/main" id="{981FF143-1321-C585-DB76-98AFF0A0FA88}"/>
              </a:ext>
            </a:extLst>
          </p:cNvPr>
          <p:cNvPicPr>
            <a:picLocks noChangeAspect="1"/>
          </p:cNvPicPr>
          <p:nvPr/>
        </p:nvPicPr>
        <p:blipFill>
          <a:blip r:embed="rId4"/>
          <a:stretch>
            <a:fillRect/>
          </a:stretch>
        </p:blipFill>
        <p:spPr>
          <a:xfrm>
            <a:off x="609601" y="3810000"/>
            <a:ext cx="8103476" cy="304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32CC7-D0EE-DEE8-E161-40653CD4F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94911-86F8-0E8A-6E36-BC4F423CD15F}"/>
              </a:ext>
            </a:extLst>
          </p:cNvPr>
          <p:cNvSpPr>
            <a:spLocks noGrp="1"/>
          </p:cNvSpPr>
          <p:nvPr>
            <p:ph type="title"/>
          </p:nvPr>
        </p:nvSpPr>
        <p:spPr>
          <a:xfrm>
            <a:off x="1219200" y="274638"/>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35ADE4F-1E02-D89C-15E2-A4D3DA289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9" name="Picture 8">
            <a:extLst>
              <a:ext uri="{FF2B5EF4-FFF2-40B4-BE49-F238E27FC236}">
                <a16:creationId xmlns:a16="http://schemas.microsoft.com/office/drawing/2014/main" id="{280B1294-9EA9-F1B2-1B49-62F8F8B4E632}"/>
              </a:ext>
            </a:extLst>
          </p:cNvPr>
          <p:cNvPicPr>
            <a:picLocks noChangeAspect="1"/>
          </p:cNvPicPr>
          <p:nvPr/>
        </p:nvPicPr>
        <p:blipFill>
          <a:blip r:embed="rId3"/>
          <a:stretch>
            <a:fillRect/>
          </a:stretch>
        </p:blipFill>
        <p:spPr>
          <a:xfrm>
            <a:off x="914400" y="761736"/>
            <a:ext cx="7086600" cy="2895864"/>
          </a:xfrm>
          <a:prstGeom prst="rect">
            <a:avLst/>
          </a:prstGeom>
        </p:spPr>
      </p:pic>
      <p:pic>
        <p:nvPicPr>
          <p:cNvPr id="11" name="Picture 10">
            <a:extLst>
              <a:ext uri="{FF2B5EF4-FFF2-40B4-BE49-F238E27FC236}">
                <a16:creationId xmlns:a16="http://schemas.microsoft.com/office/drawing/2014/main" id="{DAC8509D-386E-6064-F6A4-4F50EE7184EE}"/>
              </a:ext>
            </a:extLst>
          </p:cNvPr>
          <p:cNvPicPr>
            <a:picLocks noChangeAspect="1"/>
          </p:cNvPicPr>
          <p:nvPr/>
        </p:nvPicPr>
        <p:blipFill>
          <a:blip r:embed="rId4"/>
          <a:stretch>
            <a:fillRect/>
          </a:stretch>
        </p:blipFill>
        <p:spPr>
          <a:xfrm>
            <a:off x="914400" y="3657600"/>
            <a:ext cx="7086600" cy="2974183"/>
          </a:xfrm>
          <a:prstGeom prst="rect">
            <a:avLst/>
          </a:prstGeom>
        </p:spPr>
      </p:pic>
    </p:spTree>
    <p:extLst>
      <p:ext uri="{BB962C8B-B14F-4D97-AF65-F5344CB8AC3E}">
        <p14:creationId xmlns:p14="http://schemas.microsoft.com/office/powerpoint/2010/main" val="4018426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Conclusion and Future Scope</a:t>
            </a:r>
            <a:endParaRPr lang="en-IN"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050925"/>
            <a:ext cx="8229600" cy="5075239"/>
          </a:xfrm>
        </p:spPr>
        <p:txBody>
          <a:bodyPr>
            <a:normAutofit/>
          </a:bodyPr>
          <a:lstStyle/>
          <a:p>
            <a:r>
              <a:rPr lang="en-US" sz="1800" b="1" dirty="0">
                <a:latin typeface="Times New Roman" panose="02020603050405020304" pitchFamily="18" charset="0"/>
                <a:cs typeface="Times New Roman" panose="02020603050405020304" pitchFamily="18" charset="0"/>
              </a:rPr>
              <a:t>Conclusion:</a:t>
            </a:r>
          </a:p>
          <a:p>
            <a:r>
              <a:rPr lang="en-US" altLang="en-US" sz="1800" dirty="0">
                <a:latin typeface="Times New Roman" panose="02020603050405020304" pitchFamily="18" charset="0"/>
                <a:cs typeface="Times New Roman" panose="02020603050405020304" pitchFamily="18" charset="0"/>
              </a:rPr>
              <a:t>This project delivers a secure, high-performance checkout system by separating frontend user experience from backend business logic. Utilizing React and Express.js, the architecture guarantees a seamless, data-persistent user journey while maintaining total financial integrity. It stands as a robust, scalable template ready for modern, high-stakes e-commerce applications.</a:t>
            </a:r>
          </a:p>
          <a:p>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Future Scope: </a:t>
            </a:r>
          </a:p>
          <a:p>
            <a:r>
              <a:rPr lang="en-US" altLang="en-US" sz="1800" dirty="0">
                <a:latin typeface="Times New Roman" panose="02020603050405020304" pitchFamily="18" charset="0"/>
                <a:cs typeface="Times New Roman" panose="02020603050405020304" pitchFamily="18" charset="0"/>
              </a:rPr>
              <a:t>Full Payment Integration: Connect actual payment gateways like Stripe or PayPal to handle real money securely.</a:t>
            </a:r>
          </a:p>
          <a:p>
            <a:r>
              <a:rPr lang="en-US" altLang="en-US" sz="1800" dirty="0">
                <a:latin typeface="Times New Roman" panose="02020603050405020304" pitchFamily="18" charset="0"/>
                <a:cs typeface="Times New Roman" panose="02020603050405020304" pitchFamily="18" charset="0"/>
              </a:rPr>
              <a:t>Smart AI Discounts: Use basic AI to suggest personalized coupon codes and extra product add-ons at checkout.</a:t>
            </a:r>
          </a:p>
          <a:p>
            <a:r>
              <a:rPr lang="en-US" altLang="en-US" sz="1800" dirty="0">
                <a:latin typeface="Times New Roman" panose="02020603050405020304" pitchFamily="18" charset="0"/>
                <a:cs typeface="Times New Roman" panose="02020603050405020304" pitchFamily="18" charset="0"/>
              </a:rPr>
              <a:t>Automated Address Checking: Add tools like Google Maps to auto-fill and verify shipping addresses instantly.</a:t>
            </a:r>
          </a:p>
          <a:p>
            <a:r>
              <a:rPr lang="en-US" altLang="en-US" sz="1800" dirty="0">
                <a:latin typeface="Times New Roman" panose="02020603050405020304" pitchFamily="18" charset="0"/>
                <a:cs typeface="Times New Roman" panose="02020603050405020304" pitchFamily="18" charset="0"/>
              </a:rPr>
              <a:t>Admin Analytics Dashboard: Create a simple tracking dashboard so store owners can see exactly where users drop off and quit the checkout.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p:cNvSpPr>
            <a:spLocks noGrp="1"/>
          </p:cNvSpPr>
          <p:nvPr>
            <p:ph idx="1"/>
          </p:nvPr>
        </p:nvSpPr>
        <p:spPr/>
        <p:txBody>
          <a:bodyPr>
            <a:noAutofit/>
          </a:bodyPr>
          <a:lstStyle/>
          <a:p>
            <a:r>
              <a:rPr lang="en-US" altLang="en-IN" sz="1500" b="1">
                <a:latin typeface="Times New Roman" panose="02020603050405020304" pitchFamily="18" charset="0"/>
                <a:cs typeface="Times New Roman" panose="02020603050405020304" pitchFamily="18" charset="0"/>
              </a:rPr>
              <a:t>Some References: </a:t>
            </a:r>
          </a:p>
          <a:p>
            <a:r>
              <a:rPr lang="en-US" altLang="en-US" sz="1500">
                <a:latin typeface="Times New Roman" panose="02020603050405020304" pitchFamily="18" charset="0"/>
                <a:cs typeface="Times New Roman" panose="02020603050405020304" pitchFamily="18" charset="0"/>
              </a:rPr>
              <a:t>Flanagan, D. (2020). JavaScript: The Definitive Guide. O'Reilly Media.</a:t>
            </a:r>
          </a:p>
          <a:p>
            <a:r>
              <a:rPr lang="en-US" altLang="en-US" sz="1500">
                <a:latin typeface="Times New Roman" panose="02020603050405020304" pitchFamily="18" charset="0"/>
                <a:cs typeface="Times New Roman" panose="02020603050405020304" pitchFamily="18" charset="0"/>
              </a:rPr>
              <a:t>Relevance: Explains client-side data persistence storage patterns (LocalStorage) and asynchronous data fetching architecture via APIs.</a:t>
            </a:r>
          </a:p>
          <a:p>
            <a:endParaRPr lang="en-US" altLang="en-US" sz="1500">
              <a:latin typeface="Times New Roman" panose="02020603050405020304" pitchFamily="18" charset="0"/>
              <a:cs typeface="Times New Roman" panose="02020603050405020304" pitchFamily="18" charset="0"/>
            </a:endParaRPr>
          </a:p>
          <a:p>
            <a:r>
              <a:rPr lang="en-US" altLang="en-US" sz="1500">
                <a:latin typeface="Times New Roman" panose="02020603050405020304" pitchFamily="18" charset="0"/>
                <a:cs typeface="Times New Roman" panose="02020603050405020304" pitchFamily="18" charset="0"/>
              </a:rPr>
              <a:t>Banks, A., &amp; Porcello, E. (2020). Learning React: Modern Patterns for Developing React Apps. O'Reilly Media.</a:t>
            </a:r>
          </a:p>
          <a:p>
            <a:r>
              <a:rPr lang="en-US" altLang="en-US" sz="1500">
                <a:latin typeface="Times New Roman" panose="02020603050405020304" pitchFamily="18" charset="0"/>
                <a:cs typeface="Times New Roman" panose="02020603050405020304" pitchFamily="18" charset="0"/>
              </a:rPr>
              <a:t>Relevance: Covers global state management using the React Context API, modular component design, and handling complex multi-step user interfaces.</a:t>
            </a:r>
          </a:p>
          <a:p>
            <a:endParaRPr lang="en-US" altLang="en-US" sz="1500">
              <a:latin typeface="Times New Roman" panose="02020603050405020304" pitchFamily="18" charset="0"/>
              <a:cs typeface="Times New Roman" panose="02020603050405020304" pitchFamily="18" charset="0"/>
            </a:endParaRPr>
          </a:p>
          <a:p>
            <a:r>
              <a:rPr lang="en-US" altLang="en-US" sz="1500">
                <a:latin typeface="Times New Roman" panose="02020603050405020304" pitchFamily="18" charset="0"/>
                <a:cs typeface="Times New Roman" panose="02020603050405020304" pitchFamily="18" charset="0"/>
              </a:rPr>
              <a:t>*Node.js &amp; Express.js Documentation (Official).</a:t>
            </a:r>
          </a:p>
          <a:p>
            <a:r>
              <a:rPr lang="en-US" altLang="en-US" sz="1500">
                <a:latin typeface="Times New Roman" panose="02020603050405020304" pitchFamily="18" charset="0"/>
                <a:cs typeface="Times New Roman" panose="02020603050405020304" pitchFamily="18" charset="0"/>
              </a:rPr>
              <a:t>Relevance: Serves as the primary reference for building secure, server-side validation layers, managing route structures, and preventing client-side data manipulation in transactional workflows.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1126</Words>
  <Application>Microsoft Office PowerPoint</Application>
  <PresentationFormat>On-screen Show (4:3)</PresentationFormat>
  <Paragraphs>80</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Times New Roman</vt:lpstr>
      <vt:lpstr>Office Theme</vt:lpstr>
      <vt:lpstr> A Project Review Meeting    on  Shopping Cart &amp; Checkout Flow</vt:lpstr>
      <vt:lpstr>Outline of the Presentation</vt:lpstr>
      <vt:lpstr>Abstract</vt:lpstr>
      <vt:lpstr>Introduction</vt:lpstr>
      <vt:lpstr>Problem Statement </vt:lpstr>
      <vt:lpstr>Project Flow Diagram</vt:lpstr>
      <vt:lpstr>Objectives with Justification </vt:lpstr>
      <vt:lpstr>Modules-1 &amp; 2</vt:lpstr>
      <vt:lpstr>Modules-3 &amp; 4</vt:lpstr>
      <vt:lpstr>Modules-5 &amp; 6</vt:lpstr>
      <vt:lpstr>Expected Outcomes of the Proposed Work </vt:lpstr>
      <vt:lpstr>Expected Outcomes of the Proposed Work </vt:lpstr>
      <vt:lpstr>Conclusion and Future Scope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Dhanush Chandra</cp:lastModifiedBy>
  <cp:revision>200</cp:revision>
  <dcterms:created xsi:type="dcterms:W3CDTF">2006-08-16T00:00:00Z</dcterms:created>
  <dcterms:modified xsi:type="dcterms:W3CDTF">2026-06-16T03:25:18Z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903AD09F8005459E848505D862C73A23_12</vt:lpwstr>
  </property>
</Properties>
</file>